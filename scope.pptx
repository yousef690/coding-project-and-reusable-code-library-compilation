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3432" cy="146304"/>
          </a:xfrm>
          <a:prstGeom prst="rect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0" y="5394960"/>
            <a:ext cx="1399032" cy="1463040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6355080"/>
            <a:ext cx="3108960" cy="502920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234440"/>
            <a:ext cx="1005840" cy="1234440"/>
          </a:xfrm>
          <a:prstGeom prst="round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48840" y="1234440"/>
            <a:ext cx="1005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84831" y="1298448"/>
            <a:ext cx="73152" cy="1097280"/>
          </a:xfrm>
          <a:prstGeom prst="rect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051560"/>
            <a:ext cx="7315200" cy="1417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نظام إدارة المكتبة</a:t>
            </a:r>
          </a:p>
          <a:p>
            <a:pPr algn="r">
              <a:spcAft>
                <a:spcPts val="5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الجامعية المتكامل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71323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0">
                <a:solidFill>
                  <a:srgbClr val="CBDAEB"/>
                </a:solidFill>
                <a:latin typeface="Arial"/>
              </a:defRPr>
            </a:pPr>
            <a:r>
              <a:t>متطلبات المشروع والخطة المعمارية الشاملة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57600"/>
            <a:ext cx="2468880" cy="347472"/>
          </a:xfrm>
          <a:prstGeom prst="roundRect">
            <a:avLst/>
          </a:prstGeom>
          <a:solidFill>
            <a:srgbClr val="253955"/>
          </a:solidFill>
          <a:ln>
            <a:solidFill>
              <a:srgbClr val="2539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675887"/>
            <a:ext cx="237744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مشروع تطبيق ITCW202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343400"/>
            <a:ext cx="713232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إعداد الطلاب: عبد الرحمن ويوسف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800600"/>
            <a:ext cx="71323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CBDAEB"/>
                </a:solidFill>
                <a:latin typeface="Arial"/>
              </a:defRPr>
            </a:pPr>
            <a:r>
              <a:t>سبتمبر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6400800" cy="2286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عرض تقديمي للمشروع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نظرة عامة على المشروع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فكرة النظام والقيمة المتوقعة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300" b="1">
                <a:solidFill>
                  <a:srgbClr val="14253F"/>
                </a:solidFill>
                <a:latin typeface="Arial"/>
              </a:defRPr>
            </a:pPr>
            <a:r>
              <a:t>منصة رقمية موحّدة لإدارة عمليات المكتبة الجامعية، من البحث عن الكتاب وحتى الإعارة والإرجاع والتقارير.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2880360"/>
            <a:ext cx="34290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265408" y="2990088"/>
            <a:ext cx="54864" cy="174650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2990088"/>
            <a:ext cx="31089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الأتمتة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410712"/>
            <a:ext cx="3108960" cy="1325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تقليل الإجراءات اليدوية وتسريع إنجاز المعاملات.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8036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2088" y="2990088"/>
            <a:ext cx="54864" cy="1746504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990088"/>
            <a:ext cx="2926079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خدمة المستفيدين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10712"/>
            <a:ext cx="2926079" cy="1325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بحث وحجز ومتابعة الإعارات بصورة أسهل.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80360"/>
            <a:ext cx="32004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41648" y="2990088"/>
            <a:ext cx="54864" cy="1746504"/>
          </a:xfrm>
          <a:prstGeom prst="rect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2990088"/>
            <a:ext cx="2880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دعم الإدارة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410712"/>
            <a:ext cx="2880360" cy="1325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تقارير تساعد على متابعة الاستخدام واتخاذ القرار.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5257800"/>
            <a:ext cx="3200400" cy="347472"/>
          </a:xfrm>
          <a:prstGeom prst="roundRect">
            <a:avLst/>
          </a:prstGeom>
          <a:solidFill>
            <a:srgbClr val="FBF1DA"/>
          </a:solidFill>
          <a:ln>
            <a:solidFill>
              <a:srgbClr val="FBF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276088"/>
            <a:ext cx="310896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845E17"/>
                </a:solidFill>
                <a:latin typeface="Arial"/>
              </a:defRPr>
            </a:pPr>
            <a:r>
              <a:t>نسبة تقليل العمل اليدوي المستهدفة: 70%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ملخص المشروع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04698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737360"/>
            <a:ext cx="9509760" cy="1828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300" b="1">
                <a:solidFill>
                  <a:srgbClr val="14253F"/>
                </a:solidFill>
                <a:latin typeface="Arial"/>
              </a:defRPr>
            </a:pPr>
            <a:r>
              <a:t>يهدف المشروع إلى تطوير نظام شامل لإدارة المكتبة الرقمية لخدمة الطلاب وأعضاء هيئة التدريس وأمناء المكتبة.</a:t>
            </a:r>
          </a:p>
        </p:txBody>
      </p:sp>
      <p:sp>
        <p:nvSpPr>
          <p:cNvPr id="8" name="Oval 7"/>
          <p:cNvSpPr/>
          <p:nvPr/>
        </p:nvSpPr>
        <p:spPr>
          <a:xfrm>
            <a:off x="10469880" y="3813048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657600"/>
            <a:ext cx="891540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البحث عن الكتب وتصفح الكتالوج الإلكتروني.</a:t>
            </a:r>
          </a:p>
        </p:txBody>
      </p:sp>
      <p:sp>
        <p:nvSpPr>
          <p:cNvPr id="10" name="Oval 9"/>
          <p:cNvSpPr/>
          <p:nvPr/>
        </p:nvSpPr>
        <p:spPr>
          <a:xfrm>
            <a:off x="10469880" y="4251960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096512"/>
            <a:ext cx="891540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إدارة الإعارة والإرجاع وتتبع النسخ المتاحة.</a:t>
            </a:r>
          </a:p>
        </p:txBody>
      </p:sp>
      <p:sp>
        <p:nvSpPr>
          <p:cNvPr id="12" name="Oval 11"/>
          <p:cNvSpPr/>
          <p:nvPr/>
        </p:nvSpPr>
        <p:spPr>
          <a:xfrm>
            <a:off x="10469880" y="4690872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535424"/>
            <a:ext cx="891540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احتساب الغرامات آليًا وإظهار التنبيهات.</a:t>
            </a:r>
          </a:p>
        </p:txBody>
      </p:sp>
      <p:sp>
        <p:nvSpPr>
          <p:cNvPr id="14" name="Oval 13"/>
          <p:cNvSpPr/>
          <p:nvPr/>
        </p:nvSpPr>
        <p:spPr>
          <a:xfrm>
            <a:off x="10469880" y="5129783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974336"/>
            <a:ext cx="8915400" cy="438912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رفع كفاءة العمليات وتوفير تجربة استخدام حديثة.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أهداف المشروع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1600200"/>
            <a:ext cx="594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23969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3749039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000" b="1">
                <a:solidFill>
                  <a:srgbClr val="14253F"/>
                </a:solidFill>
                <a:latin typeface="Arial"/>
              </a:defRPr>
            </a:pPr>
            <a:r>
              <a:t>بحث متقدم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30552"/>
            <a:ext cx="429768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البحث حسب العنوان أو المؤلف أو التصنيف.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1732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600200"/>
            <a:ext cx="594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2B5C91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00200"/>
            <a:ext cx="3749039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000" b="1">
                <a:solidFill>
                  <a:srgbClr val="14253F"/>
                </a:solidFill>
                <a:latin typeface="Arial"/>
              </a:defRPr>
            </a:pPr>
            <a:r>
              <a:t>إعارة وإرجاع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130552"/>
            <a:ext cx="429768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تحديث حالة النسخ المتاحة في الوقت الفعلي.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47472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3657600"/>
            <a:ext cx="594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E6AE4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3749039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000" b="1">
                <a:solidFill>
                  <a:srgbClr val="14253F"/>
                </a:solidFill>
                <a:latin typeface="Arial"/>
              </a:defRPr>
            </a:pPr>
            <a:r>
              <a:t>غرامات وتنبيهات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87952"/>
            <a:ext cx="429768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حساب المخالفات وإرسال تنبيه قبل موعد الاستحقاق.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474720"/>
            <a:ext cx="50292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657600"/>
            <a:ext cx="59436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B84C4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57600"/>
            <a:ext cx="3749039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000" b="1">
                <a:solidFill>
                  <a:srgbClr val="14253F"/>
                </a:solidFill>
                <a:latin typeface="Arial"/>
              </a:defRPr>
            </a:pPr>
            <a:r>
              <a:t>تقارير إدارية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187952"/>
            <a:ext cx="4297680" cy="6400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متابعة الكتب الأكثر إعارة ونسبة الإشغال.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نطاق المشروع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الوظائف الأساسية وحدود النظام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17320"/>
            <a:ext cx="3291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73967" y="1527048"/>
            <a:ext cx="54864" cy="160934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527048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يشمل النظام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947672"/>
            <a:ext cx="2971800" cy="11887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كتالوج وبحث عن الكتب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حجز وإعارة وإرجاع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إدارة الأعضاء والغرامات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تقارير وإحصاءات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7807" y="1527048"/>
            <a:ext cx="54864" cy="1609344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27048"/>
            <a:ext cx="2926079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المستخدمون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2926079" cy="11887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الطالب / العضو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أمين المكتبة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مدير النظام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417320"/>
            <a:ext cx="3246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1527048"/>
            <a:ext cx="54864" cy="1609344"/>
          </a:xfrm>
          <a:prstGeom prst="rect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1527048"/>
            <a:ext cx="2926079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الهدف التشغيلي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947672"/>
            <a:ext cx="2926079" cy="11887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أتمتة شاملة مستهدفة بنسبة 70% وتقليل الاعتماد على الإجراءات اليدوية.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86200"/>
            <a:ext cx="987552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100" b="1">
                <a:solidFill>
                  <a:srgbClr val="14253F"/>
                </a:solidFill>
                <a:latin typeface="Arial"/>
              </a:defRPr>
            </a:pPr>
            <a:r>
              <a:t>المخرجات المتوقعة</a:t>
            </a:r>
          </a:p>
        </p:txBody>
      </p:sp>
      <p:sp>
        <p:nvSpPr>
          <p:cNvPr id="19" name="Oval 18"/>
          <p:cNvSpPr/>
          <p:nvPr/>
        </p:nvSpPr>
        <p:spPr>
          <a:xfrm>
            <a:off x="10789919" y="4544568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389120"/>
            <a:ext cx="946404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وثيقة متطلبات ومخططات Use Case وDFD.</a:t>
            </a:r>
          </a:p>
        </p:txBody>
      </p:sp>
      <p:sp>
        <p:nvSpPr>
          <p:cNvPr id="21" name="Oval 20"/>
          <p:cNvSpPr/>
          <p:nvPr/>
        </p:nvSpPr>
        <p:spPr>
          <a:xfrm>
            <a:off x="10789919" y="5001768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846320"/>
            <a:ext cx="946404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تصميم قاعدة البيانات ERD ونماذج الواجهات Wireframes.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19" y="5458968"/>
            <a:ext cx="82296" cy="82296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5303520"/>
            <a:ext cx="946404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2A3441"/>
                </a:solidFill>
                <a:latin typeface="Arial"/>
              </a:defRPr>
            </a:pPr>
            <a:r>
              <a:t>نظام أساسي بواجهة أمامية وخلفية، ثم اختبارات ومعالجة أخطاء.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خطة العمل المبدئية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Work Plan — المراحل والمخرجات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298448"/>
            <a:ext cx="1028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12680" y="1463039"/>
            <a:ext cx="566928" cy="566928"/>
          </a:xfrm>
          <a:prstGeom prst="ellipse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40112" y="1481328"/>
            <a:ext cx="512064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08176"/>
            <a:ext cx="36576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جمع المتطلبات وتحليل النظام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73936"/>
            <a:ext cx="3657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239691"/>
                </a:solidFill>
                <a:latin typeface="Arial"/>
              </a:defRPr>
            </a:pPr>
            <a:r>
              <a:t>الأسبوعان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81328"/>
            <a:ext cx="42976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وثيقة المتطلبات + Use Case وDFD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2505456"/>
            <a:ext cx="1028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12680" y="2670048"/>
            <a:ext cx="566928" cy="566928"/>
          </a:xfrm>
          <a:prstGeom prst="ellipse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0112" y="2688336"/>
            <a:ext cx="512064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615184"/>
            <a:ext cx="36576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تصميم قاعدة البيانات والواجهات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980944"/>
            <a:ext cx="3657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الأسبوعان 3–4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88336"/>
            <a:ext cx="42976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مخطط ERD + Wireframes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712464"/>
            <a:ext cx="1028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12680" y="3877056"/>
            <a:ext cx="566928" cy="566928"/>
          </a:xfrm>
          <a:prstGeom prst="ellipse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3895344"/>
            <a:ext cx="512064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22192"/>
            <a:ext cx="36576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تطوير البرمجيات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187952"/>
            <a:ext cx="3657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E6AE49"/>
                </a:solidFill>
                <a:latin typeface="Arial"/>
              </a:defRPr>
            </a:pPr>
            <a:r>
              <a:t>الأسابيع 5–8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95344"/>
            <a:ext cx="42976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تطوير Frontend وBackend وربطهما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4919472"/>
            <a:ext cx="1028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5084064"/>
            <a:ext cx="566928" cy="566928"/>
          </a:xfrm>
          <a:prstGeom prst="ellipse">
            <a:avLst/>
          </a:prstGeom>
          <a:solidFill>
            <a:srgbClr val="B84C4C"/>
          </a:solidFill>
          <a:ln>
            <a:solidFill>
              <a:srgbClr val="B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5102352"/>
            <a:ext cx="512064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029200"/>
            <a:ext cx="36576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الاختبار وتأكيد الجودة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394960"/>
            <a:ext cx="365760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84C4C"/>
                </a:solidFill>
                <a:latin typeface="Arial"/>
              </a:defRPr>
            </a:pPr>
            <a:r>
              <a:t>الأسبوعان 9–10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102352"/>
            <a:ext cx="4297680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تقرير الاختبارات ومعالجة الأخطاء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الجدول الزمني للمشروع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Project Schedule — حسب الجدول الوارد في التقرير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4206240" cy="713232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41148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المهمة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3752" y="1325880"/>
            <a:ext cx="1691640" cy="713232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371600"/>
            <a:ext cx="16002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Q1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سبتمبر–أكتوبر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38544" y="1325880"/>
            <a:ext cx="1691640" cy="713232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84264" y="1371600"/>
            <a:ext cx="16002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Q2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نوفمبر–ديسمبر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3336" y="1325880"/>
            <a:ext cx="1691640" cy="713232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9056" y="1371600"/>
            <a:ext cx="16002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Q3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يناير–فبراير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8128" y="1325880"/>
            <a:ext cx="1691640" cy="713232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13848" y="1371600"/>
            <a:ext cx="1600200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Q4</a:t>
            </a:r>
          </a:p>
          <a:p>
            <a:pPr algn="ctr">
              <a:spcAft>
                <a:spcPts val="5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مارس–أبريل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148840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2185416"/>
            <a:ext cx="4133087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rial"/>
              </a:defRPr>
            </a:pPr>
            <a:r>
              <a:t>التصميم والتطوير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3752" y="2148840"/>
            <a:ext cx="1691640" cy="640080"/>
          </a:xfrm>
          <a:prstGeom prst="rect">
            <a:avLst/>
          </a:prstGeom>
          <a:solidFill>
            <a:srgbClr val="DEF3F0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0328" y="2185416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39691"/>
                </a:solidFill>
                <a:latin typeface="Arial"/>
              </a:defRPr>
            </a:pPr>
            <a:r>
              <a:t>مكتمل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8544" y="2148840"/>
            <a:ext cx="1691640" cy="640080"/>
          </a:xfrm>
          <a:prstGeom prst="rect">
            <a:avLst/>
          </a:prstGeom>
          <a:solidFill>
            <a:srgbClr val="DEF3F0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185416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39691"/>
                </a:solidFill>
                <a:latin typeface="Arial"/>
              </a:defRPr>
            </a:pPr>
            <a:r>
              <a:t>مكتمل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3336" y="2148840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1" y="2185416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68128" y="2148840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04703" y="2185416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898648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" y="2935224"/>
            <a:ext cx="4133087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rial"/>
              </a:defRPr>
            </a:pPr>
            <a:r>
              <a:t>تقدير التكاليف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3752" y="2898648"/>
            <a:ext cx="1691640" cy="640080"/>
          </a:xfrm>
          <a:prstGeom prst="rect">
            <a:avLst/>
          </a:prstGeom>
          <a:solidFill>
            <a:srgbClr val="DEF3F0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0328" y="2935224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39691"/>
                </a:solidFill>
                <a:latin typeface="Arial"/>
              </a:defRPr>
            </a:pPr>
            <a:r>
              <a:t>مكتمل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38544" y="2898648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935224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03336" y="2898648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1" y="2935224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68128" y="2898648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04703" y="2935224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648456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" y="3685032"/>
            <a:ext cx="4133087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rial"/>
              </a:defRPr>
            </a:pPr>
            <a:r>
              <a:t>البناء والتطوير الفعلي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73752" y="3648456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10328" y="3685032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38544" y="3648456"/>
            <a:ext cx="1691640" cy="640080"/>
          </a:xfrm>
          <a:prstGeom prst="rect">
            <a:avLst/>
          </a:prstGeom>
          <a:solidFill>
            <a:srgbClr val="FBF1DA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3685032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845E17"/>
                </a:solidFill>
                <a:latin typeface="Arial"/>
              </a:defRPr>
            </a:pPr>
            <a:r>
              <a:t>قيد التنفيذ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3336" y="3648456"/>
            <a:ext cx="1691640" cy="640080"/>
          </a:xfrm>
          <a:prstGeom prst="rect">
            <a:avLst/>
          </a:prstGeom>
          <a:solidFill>
            <a:srgbClr val="E2ED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9911" y="3685032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مخطط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68128" y="3648456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3" y="3685032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398264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434840"/>
            <a:ext cx="4133087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rial"/>
              </a:defRPr>
            </a:pPr>
            <a:r>
              <a:t>الاختبار والتسليم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73752" y="4398264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10328" y="4434840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38544" y="4398264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4434840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03336" y="4398264"/>
            <a:ext cx="1691640" cy="640080"/>
          </a:xfrm>
          <a:prstGeom prst="rect">
            <a:avLst/>
          </a:prstGeom>
          <a:solidFill>
            <a:srgbClr val="E2ED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1" y="4434840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مخطط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68128" y="4398264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3" y="4434840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5148072"/>
            <a:ext cx="42062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" y="5184648"/>
            <a:ext cx="4133087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A3441"/>
                </a:solidFill>
                <a:latin typeface="Arial"/>
              </a:defRPr>
            </a:pPr>
            <a:r>
              <a:t>المراجعة والتدشين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73752" y="5148072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10328" y="5184648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38544" y="5148072"/>
            <a:ext cx="169164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5184648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03336" y="5148072"/>
            <a:ext cx="1691640" cy="640080"/>
          </a:xfrm>
          <a:prstGeom prst="rect">
            <a:avLst/>
          </a:prstGeom>
          <a:solidFill>
            <a:srgbClr val="E2ED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39911" y="5184648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مخطط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68128" y="5148072"/>
            <a:ext cx="1691640" cy="640080"/>
          </a:xfrm>
          <a:prstGeom prst="rect">
            <a:avLst/>
          </a:prstGeom>
          <a:solidFill>
            <a:srgbClr val="E2EDF9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04703" y="5184648"/>
            <a:ext cx="1618488" cy="5486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مخطط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الموارد المطلوبة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Required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4754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82528" y="1481328"/>
            <a:ext cx="54864" cy="160934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481328"/>
            <a:ext cx="443484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الفريق وبيئة العمل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01952"/>
            <a:ext cx="4434840" cy="11887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عبد الرحمن ويوسف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مطور Backend ومطور Frontend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خادم تجريبي محلي Localhost / Dev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24728" y="1481328"/>
            <a:ext cx="54864" cy="1609344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481328"/>
            <a:ext cx="46177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الأدوات والتقنيات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01952"/>
            <a:ext cx="4617720" cy="11887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MySQL أو PostgreSQL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Figma لتصميم الواجهات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Draw.io لإعداد المخططات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100" b="1">
                <a:solidFill>
                  <a:srgbClr val="14253F"/>
                </a:solidFill>
                <a:latin typeface="Arial"/>
              </a:defRPr>
            </a:pPr>
            <a:r>
              <a:t>المعمارية متعددة الطبقات (Multi-Tier Architecture)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4343400"/>
            <a:ext cx="2240280" cy="1234440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90472" y="4434840"/>
            <a:ext cx="2093976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B5C91"/>
                </a:solidFill>
                <a:latin typeface="Arial"/>
              </a:defRPr>
            </a:pPr>
            <a:r>
              <a:t>Presentation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4846320"/>
            <a:ext cx="2020824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A3441"/>
                </a:solidFill>
                <a:latin typeface="Arial"/>
              </a:defRPr>
            </a:pPr>
            <a:r>
              <a:t>HTML5 / CSS3 / JavaScript (React.js)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4645152"/>
            <a:ext cx="3200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39691"/>
                </a:solidFill>
                <a:latin typeface="Arial"/>
              </a:defRPr>
            </a:pPr>
            <a:r>
              <a:t>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9352" y="4343400"/>
            <a:ext cx="2240280" cy="1234440"/>
          </a:xfrm>
          <a:prstGeom prst="roundRect">
            <a:avLst/>
          </a:prstGeom>
          <a:solidFill>
            <a:srgbClr val="DEF3F0"/>
          </a:solidFill>
          <a:ln>
            <a:solidFill>
              <a:srgbClr val="DEF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32504" y="4434840"/>
            <a:ext cx="2093976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39691"/>
                </a:solidFill>
                <a:latin typeface="Arial"/>
              </a:defRPr>
            </a:pPr>
            <a:r>
              <a:t>Application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846320"/>
            <a:ext cx="2020824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A3441"/>
                </a:solidFill>
                <a:latin typeface="Arial"/>
              </a:defRPr>
            </a:pPr>
            <a:r>
              <a:t>منطق الإعارة والحجز وحساب الغرامات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4645152"/>
            <a:ext cx="3200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39691"/>
                </a:solidFill>
                <a:latin typeface="Arial"/>
              </a:defRPr>
            </a:pPr>
            <a:r>
              <a:t>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1383" y="4343400"/>
            <a:ext cx="2240280" cy="1234440"/>
          </a:xfrm>
          <a:prstGeom prst="roundRect">
            <a:avLst/>
          </a:prstGeom>
          <a:solidFill>
            <a:srgbClr val="FBF1DA"/>
          </a:solidFill>
          <a:ln>
            <a:solidFill>
              <a:srgbClr val="FBF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4434840"/>
            <a:ext cx="2093976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845E17"/>
                </a:solidFill>
                <a:latin typeface="Arial"/>
              </a:defRPr>
            </a:pPr>
            <a:r>
              <a:t>Data Access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846320"/>
            <a:ext cx="2020824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A3441"/>
                </a:solidFill>
                <a:latin typeface="Arial"/>
              </a:defRPr>
            </a:pPr>
            <a:r>
              <a:t>BookRepository / MemberRepository / LoanRepository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3376" y="4645152"/>
            <a:ext cx="32004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239691"/>
                </a:solidFill>
                <a:latin typeface="Arial"/>
              </a:defRPr>
            </a:pPr>
            <a:r>
              <a:t>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4343400"/>
            <a:ext cx="2240280" cy="1234440"/>
          </a:xfrm>
          <a:prstGeom prst="roundRect">
            <a:avLst/>
          </a:prstGeom>
          <a:solidFill>
            <a:srgbClr val="EBE5F6"/>
          </a:solidFill>
          <a:ln>
            <a:solidFill>
              <a:srgbClr val="EBE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6568" y="4434840"/>
            <a:ext cx="2093976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6F5296"/>
                </a:solidFill>
                <a:latin typeface="Arial"/>
              </a:defRPr>
            </a:pPr>
            <a:r>
              <a:t>Database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3144" y="4846320"/>
            <a:ext cx="2020824" cy="5943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2A3441"/>
                </a:solidFill>
                <a:latin typeface="Arial"/>
              </a:defRPr>
            </a:pPr>
            <a:r>
              <a:t>MySQL — ستة جداول رئيسية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مخطط تدفق البيانات العام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DFD Level 0 — Context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600" b="0">
                <a:solidFill>
                  <a:srgbClr val="677484"/>
                </a:solidFill>
                <a:latin typeface="Arial"/>
              </a:defRPr>
            </a:pPr>
            <a:r>
              <a:t>يمثل النظام نقطة الربط بين المستفيدين وعمليات المكتبة والإدارة.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286000" cy="1097280"/>
          </a:xfrm>
          <a:prstGeom prst="roundRect">
            <a:avLst/>
          </a:prstGeom>
          <a:solidFill>
            <a:srgbClr val="E2EDF9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103120" cy="8229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الطالب / العضو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148840"/>
            <a:ext cx="2743200" cy="1554480"/>
          </a:xfrm>
          <a:prstGeom prst="roundRect">
            <a:avLst/>
          </a:prstGeom>
          <a:solidFill>
            <a:srgbClr val="DEF3F0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331720"/>
            <a:ext cx="2468880" cy="11887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نظام إدارة المكتبة</a:t>
            </a:r>
          </a:p>
          <a:p>
            <a:pPr algn="ct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Library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377440"/>
            <a:ext cx="2286000" cy="1097280"/>
          </a:xfrm>
          <a:prstGeom prst="roundRect">
            <a:avLst/>
          </a:prstGeom>
          <a:solidFill>
            <a:srgbClr val="FBF1DA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514600"/>
            <a:ext cx="2103120" cy="8229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أمين المكتبة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Librarian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457200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709160"/>
            <a:ext cx="2468880" cy="6858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4253F"/>
                </a:solidFill>
                <a:latin typeface="Arial"/>
              </a:defRPr>
            </a:pPr>
            <a:r>
              <a:t>المدير</a:t>
            </a:r>
          </a:p>
          <a:p>
            <a:pPr algn="ctr">
              <a:spcAft>
                <a:spcPts val="500"/>
              </a:spcAft>
              <a:defRPr sz="1600" b="1">
                <a:solidFill>
                  <a:srgbClr val="14253F"/>
                </a:solidFill>
                <a:latin typeface="Arial"/>
              </a:defRPr>
            </a:pPr>
            <a:r>
              <a:t>Administrator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08960" y="2651760"/>
            <a:ext cx="1600200" cy="91440"/>
          </a:xfrm>
          <a:prstGeom prst="line">
            <a:avLst/>
          </a:prstGeom>
          <a:ln w="25400">
            <a:solidFill>
              <a:srgbClr val="2B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108960" y="3200400"/>
            <a:ext cx="1600200" cy="0"/>
          </a:xfrm>
          <a:prstGeom prst="line">
            <a:avLst/>
          </a:prstGeom>
          <a:ln w="25400">
            <a:solidFill>
              <a:srgbClr val="23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7452360" y="2651760"/>
            <a:ext cx="1508760" cy="91440"/>
          </a:xfrm>
          <a:prstGeom prst="line">
            <a:avLst/>
          </a:prstGeom>
          <a:ln w="25400">
            <a:solidFill>
              <a:srgbClr val="E6AE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52360" y="3200400"/>
            <a:ext cx="1508760" cy="0"/>
          </a:xfrm>
          <a:prstGeom prst="line">
            <a:avLst/>
          </a:prstGeom>
          <a:ln w="25400">
            <a:solidFill>
              <a:srgbClr val="23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0760" y="3703320"/>
            <a:ext cx="0" cy="868680"/>
          </a:xfrm>
          <a:prstGeom prst="line">
            <a:avLst/>
          </a:prstGeom>
          <a:ln w="25400">
            <a:solidFill>
              <a:srgbClr val="2B5C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00400" y="2267712"/>
            <a:ext cx="13716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B5C91"/>
                </a:solidFill>
                <a:latin typeface="Arial"/>
              </a:defRPr>
            </a:pPr>
            <a:r>
              <a:t>بحث / حجز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337560"/>
            <a:ext cx="13716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39691"/>
                </a:solidFill>
                <a:latin typeface="Arial"/>
              </a:defRPr>
            </a:pPr>
            <a:r>
              <a:t>نتائج / حالة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267712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845E17"/>
                </a:solidFill>
                <a:latin typeface="Arial"/>
              </a:defRPr>
            </a:pPr>
            <a:r>
              <a:t>إعارة / إرجاع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239691"/>
                </a:solidFill>
                <a:latin typeface="Arial"/>
              </a:defRPr>
            </a:pPr>
            <a:r>
              <a:t>تأكيد العملية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39"/>
            <a:ext cx="182880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2B5C91"/>
                </a:solidFill>
                <a:latin typeface="Arial"/>
              </a:defRPr>
            </a:pPr>
            <a:r>
              <a:t>تقارير وإحصاءات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تفصيل العمليات البرمجية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DFD 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104120" y="1581912"/>
            <a:ext cx="822960" cy="347472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600200"/>
            <a:ext cx="7315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581912"/>
            <a:ext cx="34747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البحث والحجز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75688"/>
            <a:ext cx="44805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239691"/>
                </a:solidFill>
                <a:latin typeface="Arial"/>
              </a:defRPr>
            </a:pPr>
            <a:r>
              <a:t>الكيان: الطالب /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41448"/>
            <a:ext cx="448056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مستودع البيانات: D1 الكتب والنسخ</a:t>
            </a:r>
          </a:p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D2 الحجوزات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417320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81912"/>
            <a:ext cx="822960" cy="347472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59" y="1600200"/>
            <a:ext cx="7315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581912"/>
            <a:ext cx="34747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إصدار إعارة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75688"/>
            <a:ext cx="44805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2B5C91"/>
                </a:solidFill>
                <a:latin typeface="Arial"/>
              </a:defRPr>
            </a:pPr>
            <a:r>
              <a:t>الكيان: أمين المكتبة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441448"/>
            <a:ext cx="448056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مستودع البيانات: D1 الكتب والنسخ</a:t>
            </a:r>
          </a:p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D3 الأعضاء • D4 الإعارات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04120" y="3685031"/>
            <a:ext cx="822960" cy="347472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703319"/>
            <a:ext cx="7315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85031"/>
            <a:ext cx="34747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معالجة الإرجاع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178807"/>
            <a:ext cx="44805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E6AE49"/>
                </a:solidFill>
                <a:latin typeface="Arial"/>
              </a:defRPr>
            </a:pPr>
            <a:r>
              <a:t>الكيان: أمين المكتبة / الطالب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544568"/>
            <a:ext cx="448056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مستودع البيانات: D1 الكتب والنسخ</a:t>
            </a:r>
          </a:p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D4 الإعارات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520439"/>
            <a:ext cx="50292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3685031"/>
            <a:ext cx="822960" cy="347472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59" y="3703319"/>
            <a:ext cx="731520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4.0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85031"/>
            <a:ext cx="34747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900" b="1">
                <a:solidFill>
                  <a:srgbClr val="14253F"/>
                </a:solidFill>
                <a:latin typeface="Arial"/>
              </a:defRPr>
            </a:pPr>
            <a:r>
              <a:t>إنشاء التقارير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178807"/>
            <a:ext cx="44805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B84C4C"/>
                </a:solidFill>
                <a:latin typeface="Arial"/>
              </a:defRPr>
            </a:pPr>
            <a:r>
              <a:t>الكيان: المدير / Administrator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544568"/>
            <a:ext cx="448056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2A3441"/>
                </a:solidFill>
                <a:latin typeface="Arial"/>
              </a:defRPr>
            </a:pPr>
            <a:r>
              <a:t>مستودع البيانات: بيانات الإعارات والإحصاءات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قاعدة البيانات والعلاقات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ERD — ستة جداول رئيسية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3154680" cy="438912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353312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856231"/>
            <a:ext cx="2788920" cy="1325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PK book_id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title • author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FK section_id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FK publisher_id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total_copies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325880"/>
            <a:ext cx="3154680" cy="438912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53312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56231"/>
            <a:ext cx="2788920" cy="1325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PK member_id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name • email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phone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2588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325880"/>
            <a:ext cx="3154680" cy="438912"/>
          </a:xfrm>
          <a:prstGeom prst="rect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353312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LOANS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1856231"/>
            <a:ext cx="2788920" cy="1325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PK loan_id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FK book_id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FK member_id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loan_date • due_date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3154680" cy="438912"/>
          </a:xfrm>
          <a:prstGeom prst="rect">
            <a:avLst/>
          </a:prstGeom>
          <a:solidFill>
            <a:srgbClr val="B84C4C"/>
          </a:solidFill>
          <a:ln>
            <a:solidFill>
              <a:srgbClr val="B8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776472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279392"/>
            <a:ext cx="2788920" cy="1325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PK section_id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name •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49039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749039"/>
            <a:ext cx="3154680" cy="438912"/>
          </a:xfrm>
          <a:prstGeom prst="rect">
            <a:avLst/>
          </a:prstGeom>
          <a:solidFill>
            <a:srgbClr val="6F5296"/>
          </a:solidFill>
          <a:ln>
            <a:solidFill>
              <a:srgbClr val="6F52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776472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PUBLISHER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279392"/>
            <a:ext cx="2788920" cy="1325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PK publisher_id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name • address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749039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63840" y="3749039"/>
            <a:ext cx="3154680" cy="438912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776472"/>
            <a:ext cx="297180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RESERVATION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4279392"/>
            <a:ext cx="2788920" cy="13258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PK reserve_id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FK book_id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FK member_id</a:t>
            </a:r>
          </a:p>
          <a:p>
            <a:pPr algn="ct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677484"/>
                </a:solidFill>
                <a:latin typeface="Arial"/>
              </a:defRPr>
            </a:pPr>
            <a:r>
              <a:t>ملاحظة: يوضح المخطط الجداول والحقول الأساسية كما وردت في مستند المشروع.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2212848" y="1170432"/>
            <a:ext cx="0" cy="155448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212848" y="1170432"/>
            <a:ext cx="722376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436608" y="1170432"/>
            <a:ext cx="0" cy="155448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0" y="1051560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85A46"/>
                </a:solidFill>
                <a:latin typeface="Arial"/>
              </a:rPr>
              <a:t>1 : 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06640" y="2331720"/>
            <a:ext cx="45720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24927" y="2121408"/>
            <a:ext cx="411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85A46"/>
                </a:solidFill>
                <a:latin typeface="Arial"/>
              </a:rPr>
              <a:t>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212848" y="3291840"/>
            <a:ext cx="0" cy="457199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828800" y="3401568"/>
            <a:ext cx="77724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85A46"/>
                </a:solidFill>
                <a:latin typeface="Arial"/>
              </a:rPr>
              <a:t>1 : 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212848" y="3291840"/>
            <a:ext cx="0" cy="201168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12848" y="3493008"/>
            <a:ext cx="3611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824728" y="3493008"/>
            <a:ext cx="0" cy="256031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657600" y="3328416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85A46"/>
                </a:solidFill>
                <a:latin typeface="Arial"/>
              </a:rPr>
              <a:t>1 : M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794760" y="3127248"/>
            <a:ext cx="18287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977639" y="3127248"/>
            <a:ext cx="0" cy="420624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977639" y="3547872"/>
            <a:ext cx="5458969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436608" y="3547872"/>
            <a:ext cx="0" cy="201167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0" y="3364992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85A46"/>
                </a:solidFill>
                <a:latin typeface="Arial"/>
              </a:rPr>
              <a:t>1 : 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24728" y="3291840"/>
            <a:ext cx="0" cy="256032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824728" y="3547872"/>
            <a:ext cx="3611880" cy="0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436608" y="3547872"/>
            <a:ext cx="0" cy="201167"/>
          </a:xfrm>
          <a:prstGeom prst="line">
            <a:avLst/>
          </a:prstGeom>
          <a:ln w="1905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040880" y="3346704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785A46"/>
                </a:solidFill>
                <a:latin typeface="Arial"/>
              </a:rPr>
              <a:t>1 :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حالات الاستخدام وأدوار النظام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417320"/>
            <a:ext cx="33375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73968" y="1527048"/>
            <a:ext cx="54864" cy="252374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27048"/>
            <a:ext cx="30175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الطالب (Member)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947672"/>
            <a:ext cx="3017520" cy="21031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البحث في الكتالوج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حجز كتاب غير متاح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متابعة الإعارات وتاريخ الاستحقاق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7807" y="1527048"/>
            <a:ext cx="54864" cy="2523744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27048"/>
            <a:ext cx="2926079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أمين المكتبة (Librarian)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47672"/>
            <a:ext cx="2926079" cy="21031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إصدار الإعارة والتحقق من الحد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تسجيل إرجاع الكتب وحساب الغرامة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تسجيل عضو جديد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41732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87368" y="1527048"/>
            <a:ext cx="54864" cy="2523744"/>
          </a:xfrm>
          <a:prstGeom prst="rect">
            <a:avLst/>
          </a:prstGeom>
          <a:solidFill>
            <a:srgbClr val="E6AE49"/>
          </a:solidFill>
          <a:ln>
            <a:solidFill>
              <a:srgbClr val="E6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1527048"/>
            <a:ext cx="2926079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800" b="1">
                <a:solidFill>
                  <a:srgbClr val="14253F"/>
                </a:solidFill>
                <a:latin typeface="Arial"/>
              </a:defRPr>
            </a:pPr>
            <a:r>
              <a:t>مدير النظام (Administrator)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1947672"/>
            <a:ext cx="2926079" cy="210312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إدارة الصلاحيات والمستخدمين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استخراج التقارير والإحصاءات</a:t>
            </a:r>
          </a:p>
          <a:p>
            <a:pPr algn="r">
              <a:spcAft>
                <a:spcPts val="500"/>
              </a:spcAft>
              <a:defRPr sz="1500" b="0">
                <a:solidFill>
                  <a:srgbClr val="2A3441"/>
                </a:solidFill>
                <a:latin typeface="Arial"/>
              </a:defRPr>
            </a:pPr>
            <a:r>
              <a:t>• إدارة النسخ الاحتياطية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24128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كل دور يمتلك مهامًا محددة لضمان تنظيم الصلاحيات ومسؤوليات التشغيل.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النماذج الأولية للواجهات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System Wireframes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4754880" cy="502920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25880"/>
            <a:ext cx="43891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واجهة البحث والكتالوج —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057400"/>
            <a:ext cx="411480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148840"/>
            <a:ext cx="3749039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14253F"/>
                </a:solidFill>
                <a:latin typeface="Arial"/>
              </a:defRPr>
            </a:pPr>
            <a:r>
              <a:t>Clean Code — Robert Martin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560320"/>
            <a:ext cx="3749039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239691"/>
                </a:solidFill>
                <a:latin typeface="Arial"/>
              </a:defRPr>
            </a:pPr>
            <a:r>
              <a:t>متاح • نسختان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807208"/>
            <a:ext cx="1325880" cy="347472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825496"/>
            <a:ext cx="1234439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عرض التفاصيل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383280"/>
            <a:ext cx="4114800" cy="1051560"/>
          </a:xfrm>
          <a:prstGeom prst="roundRect">
            <a:avLst/>
          </a:prstGeom>
          <a:solidFill>
            <a:srgbClr val="F6F8FB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474720"/>
            <a:ext cx="3749039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14253F"/>
                </a:solidFill>
                <a:latin typeface="Arial"/>
              </a:defRPr>
            </a:pPr>
            <a:r>
              <a:t>Software Engineering — Pressman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86200"/>
            <a:ext cx="3749039" cy="2743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B84C4C"/>
                </a:solidFill>
                <a:latin typeface="Arial"/>
              </a:defRPr>
            </a:pPr>
            <a:r>
              <a:t>غير متاح • حجز الكتاب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4133088"/>
            <a:ext cx="1325880" cy="347472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4151376"/>
            <a:ext cx="1234439" cy="29260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2B5C91"/>
                </a:solidFill>
                <a:latin typeface="Arial"/>
              </a:defRPr>
            </a:pPr>
            <a:r>
              <a:t>عرض التفاصيل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1280160"/>
            <a:ext cx="4754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1280160"/>
            <a:ext cx="4754880" cy="502920"/>
          </a:xfrm>
          <a:prstGeom prst="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1325880"/>
            <a:ext cx="4389120" cy="38404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واجهة إعارة كتاب — Librarian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057400"/>
            <a:ext cx="3931920" cy="41148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2A3441"/>
                </a:solidFill>
                <a:latin typeface="Arial"/>
              </a:defRPr>
            </a:pPr>
            <a:r>
              <a:t>رقم الطالب: 441029381 (سارة العتيبي)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2606040"/>
            <a:ext cx="3931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الإعارات الحالية: 3 من 5 كتب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063240"/>
            <a:ext cx="3931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رمز الكتاب (Barcode): C-114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520440"/>
            <a:ext cx="39319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300" b="1">
                <a:solidFill>
                  <a:srgbClr val="B84C4C"/>
                </a:solidFill>
                <a:latin typeface="Arial"/>
              </a:defRPr>
            </a:pPr>
            <a:r>
              <a:t>الغرامات المستحقة: SAR 12.00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4297680"/>
            <a:ext cx="3840480" cy="685800"/>
          </a:xfrm>
          <a:prstGeom prst="roundRect">
            <a:avLst/>
          </a:prstGeom>
          <a:solidFill>
            <a:srgbClr val="DEF3F0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407408"/>
            <a:ext cx="3566160" cy="45720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239691"/>
                </a:solidFill>
                <a:latin typeface="Arial"/>
              </a:defRPr>
            </a:pPr>
            <a:r>
              <a:t>تأكيد عملية الإعارة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57800"/>
            <a:ext cx="402336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677484"/>
                </a:solidFill>
                <a:latin typeface="Arial"/>
              </a:defRPr>
            </a:pPr>
            <a:r>
              <a:t>مثال توضيحي مستند إلى التقرير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2600" b="1">
                <a:solidFill>
                  <a:srgbClr val="14253F"/>
                </a:solidFill>
                <a:latin typeface="Arial"/>
              </a:defRPr>
            </a:pPr>
            <a:r>
              <a:t>متابعة الإعارات والخلاصة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52760" y="804672"/>
            <a:ext cx="868680" cy="5486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200" b="0">
                <a:solidFill>
                  <a:srgbClr val="677484"/>
                </a:solidFill>
                <a:latin typeface="Arial"/>
              </a:defRPr>
            </a:pPr>
            <a:r>
              <a:t>Student View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900" b="0">
                <a:solidFill>
                  <a:srgbClr val="677484"/>
                </a:solidFill>
                <a:latin typeface="Arial"/>
              </a:defRPr>
            </a:pPr>
            <a:r>
              <a:t>نظام إدارة المكتبة الجامعية المتكامل  • 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754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82528" y="1527048"/>
            <a:ext cx="54864" cy="1746504"/>
          </a:xfrm>
          <a:prstGeom prst="rect">
            <a:avLst/>
          </a:prstGeom>
          <a:solidFill>
            <a:srgbClr val="239691"/>
          </a:solidFill>
          <a:ln>
            <a:solidFill>
              <a:srgbClr val="239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527048"/>
            <a:ext cx="443484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لوحة إعارات الطالب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47672"/>
            <a:ext cx="4434840" cy="1325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• Clean Code (Copy C-114): موعد الاستحقاق 06 سبتمبر 2026، والمتبقي 4 أيام وفق النموذج.</a:t>
            </a:r>
          </a:p>
          <a:p>
            <a:pPr algn="r">
              <a:spcAft>
                <a:spcPts val="500"/>
              </a:spcAft>
              <a:defRPr sz="1300" b="0">
                <a:solidFill>
                  <a:srgbClr val="2A3441"/>
                </a:solidFill>
                <a:latin typeface="Arial"/>
              </a:defRPr>
            </a:pPr>
            <a:r>
              <a:t>• Design Patterns: مستحق في 12 سبتمبر 2026 — متأخر.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417320"/>
            <a:ext cx="4937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24728" y="1527048"/>
            <a:ext cx="54864" cy="1746504"/>
          </a:xfrm>
          <a:prstGeom prst="rect">
            <a:avLst/>
          </a:prstGeom>
          <a:solidFill>
            <a:srgbClr val="2B5C91"/>
          </a:solidFill>
          <a:ln>
            <a:solidFill>
              <a:srgbClr val="2B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527048"/>
            <a:ext cx="4617720" cy="36576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r">
              <a:spcAft>
                <a:spcPts val="500"/>
              </a:spcAft>
              <a:defRPr sz="1700" b="1">
                <a:solidFill>
                  <a:srgbClr val="14253F"/>
                </a:solidFill>
                <a:latin typeface="Arial"/>
              </a:defRPr>
            </a:pPr>
            <a:r>
              <a:t>القيمة المتوقعة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47672"/>
            <a:ext cx="4617720" cy="1325880"/>
          </a:xfrm>
          <a:prstGeom prst="rect">
            <a:avLst/>
          </a:prstGeom>
          <a:noFill/>
        </p:spPr>
        <p:txBody>
          <a:bodyPr wrap="square" lIns="73152" rIns="73152" tIns="27432" bIns="27432" anchor="t">
            <a:spAutoFit/>
          </a:bodyPr>
          <a:lstStyle/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تقليل الأعمال اليدوية ورفع كفاءة الإجراءات.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تحسين تجربة البحث والحجز والإعارة.</a:t>
            </a:r>
          </a:p>
          <a:p>
            <a:pPr algn="r">
              <a:spcAft>
                <a:spcPts val="500"/>
              </a:spcAft>
              <a:defRPr sz="1400" b="0">
                <a:solidFill>
                  <a:srgbClr val="2A3441"/>
                </a:solidFill>
                <a:latin typeface="Arial"/>
              </a:defRPr>
            </a:pPr>
            <a:r>
              <a:t>• توفير بيانات وتقارير تدعم إدارة المكتبة.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77639"/>
            <a:ext cx="10195560" cy="1371600"/>
          </a:xfrm>
          <a:prstGeom prst="roundRect">
            <a:avLst/>
          </a:prstGeom>
          <a:solidFill>
            <a:srgbClr val="14253F"/>
          </a:solidFill>
          <a:ln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187952"/>
            <a:ext cx="9418320" cy="50292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نحو مكتبة جامعية أكثر كفاءة وتنظيمًا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00600"/>
            <a:ext cx="9418320" cy="320040"/>
          </a:xfrm>
          <a:prstGeom prst="rect">
            <a:avLst/>
          </a:prstGeom>
          <a:noFill/>
        </p:spPr>
        <p:txBody>
          <a:bodyPr wrap="square" lIns="73152" rIns="73152" tIns="27432" bIns="27432" anchor="ctr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CBDAEB"/>
                </a:solidFill>
                <a:latin typeface="Arial"/>
              </a:defRPr>
            </a:pPr>
            <a:r>
              <a:t>نظام موحد يربط المستفيدين بالكتب والعمليات والبيانات.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